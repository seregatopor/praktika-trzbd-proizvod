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A347B-6773-4992-9482-780A8223C252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F76-B6FB-43EE-ABA8-912D5C2C5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0695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A347B-6773-4992-9482-780A8223C252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F76-B6FB-43EE-ABA8-912D5C2C5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1047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A347B-6773-4992-9482-780A8223C252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F76-B6FB-43EE-ABA8-912D5C2C5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845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A347B-6773-4992-9482-780A8223C252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F76-B6FB-43EE-ABA8-912D5C2C5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5908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A347B-6773-4992-9482-780A8223C252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F76-B6FB-43EE-ABA8-912D5C2C5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5321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A347B-6773-4992-9482-780A8223C252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F76-B6FB-43EE-ABA8-912D5C2C5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2383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A347B-6773-4992-9482-780A8223C252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F76-B6FB-43EE-ABA8-912D5C2C5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4188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A347B-6773-4992-9482-780A8223C252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F76-B6FB-43EE-ABA8-912D5C2C5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2986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A347B-6773-4992-9482-780A8223C252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F76-B6FB-43EE-ABA8-912D5C2C5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714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A347B-6773-4992-9482-780A8223C252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F76-B6FB-43EE-ABA8-912D5C2C5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084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A347B-6773-4992-9482-780A8223C252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F76-B6FB-43EE-ABA8-912D5C2C5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6851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A347B-6773-4992-9482-780A8223C252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F76-B6FB-43EE-ABA8-912D5C2C577A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0660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A347B-6773-4992-9482-780A8223C252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F76-B6FB-43EE-ABA8-912D5C2C5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62991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A347B-6773-4992-9482-780A8223C252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F76-B6FB-43EE-ABA8-912D5C2C5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06114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A347B-6773-4992-9482-780A8223C252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F76-B6FB-43EE-ABA8-912D5C2C5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05056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A347B-6773-4992-9482-780A8223C252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F76-B6FB-43EE-ABA8-912D5C2C5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00270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A347B-6773-4992-9482-780A8223C252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F76-B6FB-43EE-ABA8-912D5C2C5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8333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63A347B-6773-4992-9482-780A8223C252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5632F76-B6FB-43EE-ABA8-912D5C2C5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8782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4" r:id="rId11"/>
    <p:sldLayoutId id="2147483905" r:id="rId12"/>
    <p:sldLayoutId id="2147483906" r:id="rId13"/>
    <p:sldLayoutId id="2147483907" r:id="rId14"/>
    <p:sldLayoutId id="2147483908" r:id="rId15"/>
    <p:sldLayoutId id="2147483909" r:id="rId16"/>
    <p:sldLayoutId id="2147483910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eregaTopor/Praktika-TRZBD-PRoizvo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299E5B-8DA4-99C3-568D-463D3B88AA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643468"/>
            <a:ext cx="9839174" cy="5562600"/>
          </a:xfrm>
        </p:spPr>
        <p:txBody>
          <a:bodyPr>
            <a:noAutofit/>
          </a:bodyPr>
          <a:lstStyle/>
          <a:p>
            <a:r>
              <a:rPr lang="ru-RU" sz="2400" dirty="0"/>
              <a:t>МИНИСТЕРСТВО ОБРАЗОВАНИЯ КИРОВСКОЙ ОБЛАСТИ</a:t>
            </a:r>
            <a:br>
              <a:rPr lang="ru-RU" sz="2400" dirty="0"/>
            </a:br>
            <a:r>
              <a:rPr lang="ru-RU" sz="2400" dirty="0"/>
              <a:t>КОГПОБУ «Слободской колледж педагогики и социальных отношений»</a:t>
            </a:r>
            <a:br>
              <a:rPr lang="ru-RU" sz="2400" dirty="0"/>
            </a:br>
            <a:br>
              <a:rPr lang="ru-RU" sz="2400" dirty="0"/>
            </a:br>
            <a:r>
              <a:rPr lang="ru-RU" sz="2400" dirty="0"/>
              <a:t>ОТЧЕТ ПО ПРОИЗВОДСТВЕННОЙ ПРАКТИКЕ</a:t>
            </a:r>
            <a:br>
              <a:rPr lang="ru-RU" sz="2400" dirty="0"/>
            </a:br>
            <a:r>
              <a:rPr lang="ru-RU" sz="2400" dirty="0"/>
              <a:t>ПМ.11. Разработка, администрирование и защита баз данных</a:t>
            </a:r>
            <a:br>
              <a:rPr lang="ru-RU" sz="2400" dirty="0"/>
            </a:br>
            <a:br>
              <a:rPr lang="ru-RU" sz="2400" dirty="0"/>
            </a:br>
            <a:r>
              <a:rPr lang="ru-RU" sz="2400" dirty="0"/>
              <a:t>РАЗРАБОТКА БАЗЫ ДАННЫХ ДЛЯ УЧЁТА ПРОДАЖИ ФАНЕРЫ</a:t>
            </a:r>
            <a:br>
              <a:rPr lang="ru-RU" sz="2400" dirty="0"/>
            </a:br>
            <a:r>
              <a:rPr lang="ru-RU" sz="2400" dirty="0"/>
              <a:t>АО «КРАСНЫЙ ЯКОРЬ»</a:t>
            </a:r>
            <a:br>
              <a:rPr lang="ru-RU" sz="2400" dirty="0"/>
            </a:br>
            <a:br>
              <a:rPr lang="ru-RU" sz="2400" dirty="0"/>
            </a:br>
            <a:r>
              <a:rPr lang="ru-RU" sz="2400" dirty="0"/>
              <a:t>Студент: Баталов Сергей Андреевич</a:t>
            </a:r>
            <a:br>
              <a:rPr lang="ru-RU" sz="2400" dirty="0"/>
            </a:br>
            <a:r>
              <a:rPr lang="ru-RU" sz="2400" dirty="0"/>
              <a:t>Группа: 23П-1</a:t>
            </a:r>
            <a:br>
              <a:rPr lang="ru-RU" sz="2400" dirty="0"/>
            </a:br>
            <a:r>
              <a:rPr lang="ru-RU" sz="2400" dirty="0"/>
              <a:t>Руководитель: Махнев А.А.</a:t>
            </a:r>
            <a:br>
              <a:rPr lang="ru-RU" sz="2400" dirty="0"/>
            </a:br>
            <a:r>
              <a:rPr lang="ru-RU" sz="2400" dirty="0"/>
              <a:t>Руководитель производственной практики</a:t>
            </a:r>
            <a:r>
              <a:rPr lang="en-US" sz="2400" dirty="0"/>
              <a:t>:</a:t>
            </a:r>
            <a:r>
              <a:rPr lang="ru-RU" sz="2400" dirty="0"/>
              <a:t> Порошина Д.</a:t>
            </a:r>
            <a:br>
              <a:rPr lang="ru-RU" sz="2400" dirty="0"/>
            </a:br>
            <a:br>
              <a:rPr lang="ru-RU" sz="2400" dirty="0"/>
            </a:br>
            <a:r>
              <a:rPr lang="ru-RU" sz="2400" dirty="0"/>
              <a:t>2025-2026 уч. год</a:t>
            </a:r>
          </a:p>
        </p:txBody>
      </p:sp>
    </p:spTree>
    <p:extLst>
      <p:ext uri="{BB962C8B-B14F-4D97-AF65-F5344CB8AC3E}">
        <p14:creationId xmlns:p14="http://schemas.microsoft.com/office/powerpoint/2010/main" val="3916679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83C39E-F3B4-BB5C-9A1A-44BAE86CC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FB77AA-AF52-91C8-2A9D-A74760C26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>
                <a:effectLst/>
              </a:rPr>
              <a:t>Цель работы: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Разработать базу данных для автоматизации учёта продажи фанеры</a:t>
            </a:r>
          </a:p>
          <a:p>
            <a:r>
              <a:rPr lang="ru-RU" b="1" dirty="0">
                <a:effectLst/>
              </a:rPr>
              <a:t>Актуальность:</a:t>
            </a:r>
            <a:endParaRPr lang="ru-RU" dirty="0">
              <a:effectLst/>
            </a:endParaRPr>
          </a:p>
          <a:p>
            <a:r>
              <a:rPr lang="ru-RU" dirty="0">
                <a:effectLst/>
              </a:rPr>
              <a:t>Бумажные журналы → потеря данных</a:t>
            </a:r>
          </a:p>
          <a:p>
            <a:r>
              <a:rPr lang="ru-RU" dirty="0">
                <a:effectLst/>
              </a:rPr>
              <a:t>Excel-таблицы → ошибки учёта</a:t>
            </a:r>
          </a:p>
          <a:p>
            <a:r>
              <a:rPr lang="ru-RU" dirty="0">
                <a:effectLst/>
              </a:rPr>
              <a:t>Нет централизованного хранения</a:t>
            </a:r>
          </a:p>
          <a:p>
            <a:r>
              <a:rPr lang="ru-RU" dirty="0">
                <a:effectLst/>
              </a:rPr>
              <a:t>Сложность формирования отчётов</a:t>
            </a:r>
          </a:p>
          <a:p>
            <a:r>
              <a:rPr lang="ru-RU" b="1" dirty="0">
                <a:effectLst/>
              </a:rPr>
              <a:t>Результат автоматизации: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 Централизованное хранение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 Быстрый поиск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 Разграничение доступа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 Автоматические отчёты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5846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377952-1DE9-BC84-2B2B-9C0C07F67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effectLst/>
              </a:rPr>
              <a:t> Структура базы данных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17E2CC7F-C416-F92E-BA84-13EA4C4F40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9207754"/>
              </p:ext>
            </p:extLst>
          </p:nvPr>
        </p:nvGraphicFramePr>
        <p:xfrm>
          <a:off x="1083216" y="2734733"/>
          <a:ext cx="10353675" cy="345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1225">
                  <a:extLst>
                    <a:ext uri="{9D8B030D-6E8A-4147-A177-3AD203B41FA5}">
                      <a16:colId xmlns:a16="http://schemas.microsoft.com/office/drawing/2014/main" val="3914957267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235669280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688534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№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Таблица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Назначение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615672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1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Nomenclature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Справочник товаров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662748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Warehouses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Справочник складов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048748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3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Counterparties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Клиенты и поставщики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14233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4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Documents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Документы (приход/расход)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340901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5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DocumentLines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Строки документов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240893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6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PriceHistory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История цен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741913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7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InventoryBalances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Остатки на складах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462443662"/>
                  </a:ext>
                </a:extLst>
              </a:tr>
            </a:tbl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ED334BE-FC24-922E-92C1-D8311F4EA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8459" y="167579"/>
            <a:ext cx="2152950" cy="239110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45B00EA-0D78-3029-3AC1-1B51585E5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295" y="1750570"/>
            <a:ext cx="4295784" cy="80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6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3EE296-1F88-2429-0307-AF8EFBB2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</a:rPr>
              <a:t>ER-</a:t>
            </a:r>
            <a:r>
              <a:rPr lang="ru-RU" b="1" dirty="0">
                <a:effectLst/>
              </a:rPr>
              <a:t>диаграмма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DC35EDC-9995-5AB6-B297-21567A9CC1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3645" y="1664230"/>
            <a:ext cx="4928653" cy="405923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B25EB9-22F4-F287-88DF-F44A59225020}"/>
              </a:ext>
            </a:extLst>
          </p:cNvPr>
          <p:cNvSpPr txBox="1"/>
          <p:nvPr/>
        </p:nvSpPr>
        <p:spPr>
          <a:xfrm>
            <a:off x="6197600" y="2080466"/>
            <a:ext cx="6096000" cy="29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Основные связи: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Documents → Counterparties (N:1)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Documents → Warehouses (N:1)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F9FAFB"/>
                </a:solidFill>
                <a:effectLst/>
                <a:latin typeface="quote-cjk-patch"/>
              </a:rPr>
              <a:t>DocumentLines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 → Documents (N:1)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F9FAFB"/>
                </a:solidFill>
                <a:effectLst/>
                <a:latin typeface="quote-cjk-patch"/>
              </a:rPr>
              <a:t>DocumentLines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 → Nomenclature (N:1)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F9FAFB"/>
                </a:solidFill>
                <a:effectLst/>
                <a:latin typeface="quote-cjk-patch"/>
              </a:rPr>
              <a:t>InventoryBalances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 → Nomenclature + Warehouses</a:t>
            </a:r>
          </a:p>
        </p:txBody>
      </p:sp>
    </p:spTree>
    <p:extLst>
      <p:ext uri="{BB962C8B-B14F-4D97-AF65-F5344CB8AC3E}">
        <p14:creationId xmlns:p14="http://schemas.microsoft.com/office/powerpoint/2010/main" val="286706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4E0281-A059-8892-62EF-55A9DC79C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effectLst/>
              </a:rPr>
              <a:t>Примеры запросов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4077EBB-241D-6B11-58DF-CC3368B43C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8406" y="2230613"/>
            <a:ext cx="4982270" cy="126700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48007BE-FEF6-CB6C-48D1-1DFDA9522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676" y="4395082"/>
            <a:ext cx="3810532" cy="12765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E22765-EFBF-9633-938D-FA5F78361C1F}"/>
              </a:ext>
            </a:extLst>
          </p:cNvPr>
          <p:cNvSpPr txBox="1"/>
          <p:nvPr/>
        </p:nvSpPr>
        <p:spPr>
          <a:xfrm>
            <a:off x="1108406" y="172066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>
                <a:solidFill>
                  <a:srgbClr val="F9FAFB"/>
                </a:solidFill>
                <a:effectLst/>
                <a:latin typeface="quote-cjk-patch"/>
              </a:rPr>
              <a:t>Запрос 1: Текущие остатки на складах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D2937C-0F05-B4F6-B791-BE46079B611D}"/>
              </a:ext>
            </a:extLst>
          </p:cNvPr>
          <p:cNvSpPr txBox="1"/>
          <p:nvPr/>
        </p:nvSpPr>
        <p:spPr>
          <a:xfrm>
            <a:off x="4546600" y="38851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Запрос 2: Продажи по месяцам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8193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ED0770-CE79-125B-51EB-8DFE8C2E5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>
                <a:effectLst/>
              </a:rPr>
              <a:t>Разграничение доступа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BE7A928-9E0E-AD89-0A83-8A082D04DD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3147658"/>
              </p:ext>
            </p:extLst>
          </p:nvPr>
        </p:nvGraphicFramePr>
        <p:xfrm>
          <a:off x="914400" y="1731963"/>
          <a:ext cx="10353674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6837">
                  <a:extLst>
                    <a:ext uri="{9D8B030D-6E8A-4147-A177-3AD203B41FA5}">
                      <a16:colId xmlns:a16="http://schemas.microsoft.com/office/drawing/2014/main" val="319531298"/>
                    </a:ext>
                  </a:extLst>
                </a:gridCol>
                <a:gridCol w="5176837">
                  <a:extLst>
                    <a:ext uri="{9D8B030D-6E8A-4147-A177-3AD203B41FA5}">
                      <a16:colId xmlns:a16="http://schemas.microsoft.com/office/drawing/2014/main" val="24072258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Роль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Права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972159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Admin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Полный доступ, управление пользователями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953444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SalesManager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Продажи, работа с клиентами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57416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Storekeeper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Приход товара, управление остатками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308300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Analyst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Только просмотр отчётов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1904872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98199CE-6ED5-C882-247E-107636AEFC2A}"/>
              </a:ext>
            </a:extLst>
          </p:cNvPr>
          <p:cNvSpPr txBox="1"/>
          <p:nvPr/>
        </p:nvSpPr>
        <p:spPr>
          <a:xfrm>
            <a:off x="913795" y="12866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4 роли пользователей: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27109C-9A49-9273-970E-A486527CE9E3}"/>
              </a:ext>
            </a:extLst>
          </p:cNvPr>
          <p:cNvSpPr txBox="1"/>
          <p:nvPr/>
        </p:nvSpPr>
        <p:spPr>
          <a:xfrm>
            <a:off x="1049867" y="4238567"/>
            <a:ext cx="6096000" cy="215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Безопасность: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Пароли хранятся в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хэшированном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виде (SHA2_256)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Регистрация только через администратора</a:t>
            </a:r>
          </a:p>
          <a:p>
            <a:pPr>
              <a:buNone/>
            </a:pP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9084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E2583A-D1A5-ED70-CE4E-1AC7D88C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58770"/>
            <a:ext cx="10353762" cy="970450"/>
          </a:xfrm>
        </p:spPr>
        <p:txBody>
          <a:bodyPr>
            <a:normAutofit/>
          </a:bodyPr>
          <a:lstStyle/>
          <a:p>
            <a:r>
              <a:rPr lang="ru-RU" b="1" dirty="0">
                <a:effectLst/>
              </a:rPr>
              <a:t> Резервное копирование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DA25BC5-ED22-0C29-A1FB-525C395144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2678" y="4643087"/>
            <a:ext cx="6592220" cy="211484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D73625-2E2C-A6EB-4182-162E7C7D9F3C}"/>
              </a:ext>
            </a:extLst>
          </p:cNvPr>
          <p:cNvSpPr txBox="1"/>
          <p:nvPr/>
        </p:nvSpPr>
        <p:spPr>
          <a:xfrm>
            <a:off x="237066" y="1525066"/>
            <a:ext cx="6096000" cy="1449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Типы копий: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Полная (Full) — вся база данных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Дифференциальная (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Differential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) — только изменения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D09F9FF-4901-9635-00D4-3E2FCA6CF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391" y="3122552"/>
            <a:ext cx="3238952" cy="8668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518E76-922C-5919-15B3-704366C7DC81}"/>
              </a:ext>
            </a:extLst>
          </p:cNvPr>
          <p:cNvSpPr txBox="1"/>
          <p:nvPr/>
        </p:nvSpPr>
        <p:spPr>
          <a:xfrm>
            <a:off x="7871883" y="2644964"/>
            <a:ext cx="6108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Пример скрипта: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92D4C6-BD85-4674-780E-9F791D241F9B}"/>
              </a:ext>
            </a:extLst>
          </p:cNvPr>
          <p:cNvSpPr txBox="1"/>
          <p:nvPr/>
        </p:nvSpPr>
        <p:spPr>
          <a:xfrm>
            <a:off x="2600146" y="4145374"/>
            <a:ext cx="6991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Создано 6 резервных копий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4922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E2C085-34C7-D0CE-0239-169223958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effectLst/>
              </a:rPr>
              <a:t> Результаты работы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C80234-5022-D395-A6CF-0B836297E979}"/>
              </a:ext>
            </a:extLst>
          </p:cNvPr>
          <p:cNvSpPr txBox="1"/>
          <p:nvPr/>
        </p:nvSpPr>
        <p:spPr>
          <a:xfrm>
            <a:off x="4614070" y="3646799"/>
            <a:ext cx="6096000" cy="29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Что сделано: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✅ Спроектирована и реализована БД (7 таблиц)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✅ Заполнено более 5 500 записей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✅ Разработаны аналитические запросы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✅ Настроено резервное копирование (6 копий)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✅ Создано приложение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WinForms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(CRUD)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0A17A3-84D6-F791-AE25-9A646FD10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2070" y="1415127"/>
            <a:ext cx="4342354" cy="233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A103AA-089F-F115-8EDD-ED1805E7C2D9}"/>
              </a:ext>
            </a:extLst>
          </p:cNvPr>
          <p:cNvSpPr txBox="1"/>
          <p:nvPr/>
        </p:nvSpPr>
        <p:spPr>
          <a:xfrm>
            <a:off x="351367" y="1657132"/>
            <a:ext cx="6138332" cy="2900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400" b="1" i="0" dirty="0">
                <a:solidFill>
                  <a:srgbClr val="F9FAFB"/>
                </a:solidFill>
                <a:effectLst/>
                <a:latin typeface="quote-cjk-patch"/>
              </a:rPr>
              <a:t>Достигнутые цели:</a:t>
            </a:r>
            <a:endParaRPr lang="ru-RU" sz="24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F9FAFB"/>
                </a:solidFill>
                <a:effectLst/>
                <a:latin typeface="quote-cjk-patch"/>
              </a:rPr>
              <a:t>Централизованное хранение данных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F9FAFB"/>
                </a:solidFill>
                <a:effectLst/>
                <a:latin typeface="quote-cjk-patch"/>
              </a:rPr>
              <a:t>Автоматизация отчётности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F9FAFB"/>
                </a:solidFill>
                <a:effectLst/>
                <a:latin typeface="quote-cjk-patch"/>
              </a:rPr>
              <a:t>Разграничение доступа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F9FAFB"/>
                </a:solidFill>
                <a:effectLst/>
                <a:latin typeface="quote-cjk-patch"/>
              </a:rPr>
              <a:t>Сохранность данных</a:t>
            </a:r>
          </a:p>
        </p:txBody>
      </p:sp>
    </p:spTree>
    <p:extLst>
      <p:ext uri="{BB962C8B-B14F-4D97-AF65-F5344CB8AC3E}">
        <p14:creationId xmlns:p14="http://schemas.microsoft.com/office/powerpoint/2010/main" val="1671369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B601BA-FC1F-CEB7-970E-5D29780F7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effectLst/>
              </a:rPr>
              <a:t>Заключение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201E85-DD21-184E-A934-AA14B1533ACA}"/>
              </a:ext>
            </a:extLst>
          </p:cNvPr>
          <p:cNvSpPr txBox="1"/>
          <p:nvPr/>
        </p:nvSpPr>
        <p:spPr>
          <a:xfrm>
            <a:off x="913795" y="1791391"/>
            <a:ext cx="6096000" cy="4934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Итог работы: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Разработанная база данных «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PlywoodSales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» позволяет: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Централизованно хранить информацию о номенклатуре, складах, контрагентах и документах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Отслеживать движение фанеры от поступления до отгрузки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Автоматически формировать отчёты по остаткам и продажам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Разграничивать права доступа сотрудников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Восстанавливать данные из резервных копий при сбоях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 err="1">
                <a:solidFill>
                  <a:srgbClr val="F9FAFB"/>
                </a:solidFill>
                <a:effectLst/>
                <a:latin typeface="quote-cjk-patch"/>
              </a:rPr>
              <a:t>GitHub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ru-RU" b="0" i="0" u="none" strike="noStrike" dirty="0">
                <a:solidFill>
                  <a:srgbClr val="679EFE"/>
                </a:solidFill>
                <a:effectLst/>
                <a:latin typeface="quote-cjk-patch"/>
                <a:hlinkClick r:id="rId2"/>
              </a:rPr>
              <a:t>github.com/</a:t>
            </a:r>
            <a:r>
              <a:rPr lang="ru-RU" b="0" i="0" u="none" strike="noStrike" dirty="0" err="1">
                <a:solidFill>
                  <a:srgbClr val="679EFE"/>
                </a:solidFill>
                <a:effectLst/>
                <a:latin typeface="quote-cjk-patch"/>
                <a:hlinkClick r:id="rId2"/>
              </a:rPr>
              <a:t>seregaTopor</a:t>
            </a:r>
            <a:r>
              <a:rPr lang="ru-RU" b="0" i="0" u="none" strike="noStrike" dirty="0">
                <a:solidFill>
                  <a:srgbClr val="679EFE"/>
                </a:solidFill>
                <a:effectLst/>
                <a:latin typeface="quote-cjk-patch"/>
                <a:hlinkClick r:id="rId2"/>
              </a:rPr>
              <a:t>/</a:t>
            </a:r>
            <a:r>
              <a:rPr lang="ru-RU" b="0" i="0" u="none" strike="noStrike" dirty="0" err="1">
                <a:solidFill>
                  <a:srgbClr val="679EFE"/>
                </a:solidFill>
                <a:effectLst/>
                <a:latin typeface="quote-cjk-patch"/>
                <a:hlinkClick r:id="rId2"/>
              </a:rPr>
              <a:t>Praktika</a:t>
            </a:r>
            <a:r>
              <a:rPr lang="ru-RU" b="0" i="0" u="none" strike="noStrike" dirty="0">
                <a:solidFill>
                  <a:srgbClr val="679EFE"/>
                </a:solidFill>
                <a:effectLst/>
                <a:latin typeface="quote-cjk-patch"/>
                <a:hlinkClick r:id="rId2"/>
              </a:rPr>
              <a:t>-TRZBD-</a:t>
            </a:r>
            <a:r>
              <a:rPr lang="ru-RU" b="0" i="0" u="none" strike="noStrike" dirty="0" err="1">
                <a:solidFill>
                  <a:srgbClr val="679EFE"/>
                </a:solidFill>
                <a:effectLst/>
                <a:latin typeface="quote-cjk-patch"/>
                <a:hlinkClick r:id="rId2"/>
              </a:rPr>
              <a:t>PRoizvod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1585576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Сланец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3EC26C"/>
      </a:accent1>
      <a:accent2>
        <a:srgbClr val="B3D463"/>
      </a:accent2>
      <a:accent3>
        <a:srgbClr val="3BBC9D"/>
      </a:accent3>
      <a:accent4>
        <a:srgbClr val="97AF75"/>
      </a:accent4>
      <a:accent5>
        <a:srgbClr val="6BA841"/>
      </a:accent5>
      <a:accent6>
        <a:srgbClr val="79AE90"/>
      </a:accent6>
      <a:hlink>
        <a:srgbClr val="85E4A6"/>
      </a:hlink>
      <a:folHlink>
        <a:srgbClr val="BDF3D0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43372978-11FE-4814-AC26-BC300187D8C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Сланец</Template>
  <TotalTime>131</TotalTime>
  <Words>411</Words>
  <Application>Microsoft Office PowerPoint</Application>
  <PresentationFormat>Широкоэкранный</PresentationFormat>
  <Paragraphs>87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quote-cjk-patch</vt:lpstr>
      <vt:lpstr>Arial</vt:lpstr>
      <vt:lpstr>Calisto MT</vt:lpstr>
      <vt:lpstr>Wingdings 2</vt:lpstr>
      <vt:lpstr>Сланец</vt:lpstr>
      <vt:lpstr>МИНИСТЕРСТВО ОБРАЗОВАНИЯ КИРОВСКОЙ ОБЛАСТИ КОГПОБУ «Слободской колледж педагогики и социальных отношений»  ОТЧЕТ ПО ПРОИЗВОДСТВЕННОЙ ПРАКТИКЕ ПМ.11. Разработка, администрирование и защита баз данных  РАЗРАБОТКА БАЗЫ ДАННЫХ ДЛЯ УЧЁТА ПРОДАЖИ ФАНЕРЫ АО «КРАСНЫЙ ЯКОРЬ»  Студент: Баталов Сергей Андреевич Группа: 23П-1 Руководитель: Махнев А.А. Руководитель производственной практики: Порошина Д.  2025-2026 уч. год</vt:lpstr>
      <vt:lpstr>Цель и актуальность</vt:lpstr>
      <vt:lpstr> Структура базы данных</vt:lpstr>
      <vt:lpstr>ER-диаграмма</vt:lpstr>
      <vt:lpstr>Примеры запросов</vt:lpstr>
      <vt:lpstr>Разграничение доступа</vt:lpstr>
      <vt:lpstr> Резервное копирование</vt:lpstr>
      <vt:lpstr> Результаты работы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Серёжа Баталова</dc:creator>
  <cp:lastModifiedBy>Серёжа Баталова</cp:lastModifiedBy>
  <cp:revision>1</cp:revision>
  <dcterms:created xsi:type="dcterms:W3CDTF">2026-05-27T06:41:17Z</dcterms:created>
  <dcterms:modified xsi:type="dcterms:W3CDTF">2026-05-27T08:53:02Z</dcterms:modified>
</cp:coreProperties>
</file>